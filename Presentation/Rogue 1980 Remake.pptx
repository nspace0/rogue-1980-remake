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embeddedFontLst>
    <p:embeddedFont>
      <p:font typeface="Poppins Light" panose="00000400000000000000" pitchFamily="2" charset="0"/>
      <p:regular r:id="rId12"/>
      <p:italic r:id="rId13"/>
    </p:embeddedFont>
    <p:embeddedFont>
      <p:font typeface="Roboto Light" panose="02000000000000000000" pitchFamily="2" charset="0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A5500"/>
    <a:srgbClr val="000000"/>
    <a:srgbClr val="AE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5B65F7-8B08-4540-B36A-4DB70A81CC86}" v="5" dt="2026-06-20T19:51:53.4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200" d="100"/>
          <a:sy n="200" d="100"/>
        </p:scale>
        <p:origin x="654" y="4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43693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9191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05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space0/Rogue-1980-Remake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96119" y="1447726"/>
            <a:ext cx="587350" cy="266402"/>
          </a:xfrm>
          <a:prstGeom prst="roundRect">
            <a:avLst>
              <a:gd name="adj" fmla="val 17880"/>
            </a:avLst>
          </a:prstGeom>
          <a:solidFill>
            <a:srgbClr val="25252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1"/>
          <p:cNvSpPr/>
          <p:nvPr/>
        </p:nvSpPr>
        <p:spPr>
          <a:xfrm>
            <a:off x="581174" y="1490216"/>
            <a:ext cx="874440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AA55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JAVA 21</a:t>
            </a:r>
            <a:endParaRPr lang="en-US" sz="850" dirty="0">
              <a:solidFill>
                <a:srgbClr val="AA5500"/>
              </a:solidFill>
            </a:endParaRPr>
          </a:p>
        </p:txBody>
      </p:sp>
      <p:sp>
        <p:nvSpPr>
          <p:cNvPr id="5" name="Shape 2"/>
          <p:cNvSpPr/>
          <p:nvPr/>
        </p:nvSpPr>
        <p:spPr>
          <a:xfrm>
            <a:off x="1154311" y="1442963"/>
            <a:ext cx="1176263" cy="275927"/>
          </a:xfrm>
          <a:prstGeom prst="roundRect">
            <a:avLst>
              <a:gd name="adj" fmla="val 17263"/>
            </a:avLst>
          </a:prstGeom>
          <a:noFill/>
          <a:ln w="4763">
            <a:solidFill>
              <a:srgbClr val="F2F2F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3"/>
          <p:cNvSpPr/>
          <p:nvPr/>
        </p:nvSpPr>
        <p:spPr>
          <a:xfrm>
            <a:off x="1244129" y="1490216"/>
            <a:ext cx="1453828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AA55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УЧЕБНЫЙ ПРОЕКТ</a:t>
            </a:r>
            <a:endParaRPr lang="en-US" sz="850" dirty="0">
              <a:solidFill>
                <a:srgbClr val="AA5500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496119" y="1775594"/>
            <a:ext cx="4857304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AA55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Roguelike Console Game</a:t>
            </a:r>
            <a:endParaRPr lang="en-US" sz="2750" dirty="0">
              <a:solidFill>
                <a:srgbClr val="AA5500"/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496119" y="2431182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Консольная игра в жанре Roguelike на Java 21 — современная реализация классической механики Rogue 1980 года с процедурной генерацией подземелий.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96119" y="3519115"/>
            <a:ext cx="5179963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Автор: </a:t>
            </a:r>
            <a:r>
              <a:rPr lang="ru-RU" sz="850" dirty="0">
                <a:solidFill>
                  <a:srgbClr val="AA55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Булгучев Ибрагим</a:t>
            </a:r>
            <a:br>
              <a:rPr lang="en-US" sz="8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</a:br>
            <a:r>
              <a:rPr lang="en-US" sz="8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Группа </a:t>
            </a:r>
            <a:r>
              <a:rPr lang="ru-RU" sz="850" dirty="0">
                <a:solidFill>
                  <a:srgbClr val="AA55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ИСиТ</a:t>
            </a:r>
            <a:r>
              <a:rPr lang="en-US" sz="850" dirty="0">
                <a:solidFill>
                  <a:srgbClr val="AA55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I-</a:t>
            </a:r>
            <a:r>
              <a:rPr lang="ru-RU" sz="850" dirty="0">
                <a:solidFill>
                  <a:srgbClr val="AA55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курс</a:t>
            </a:r>
            <a:endParaRPr lang="en-US" sz="850" dirty="0">
              <a:solidFill>
                <a:srgbClr val="AA5500"/>
              </a:solidFill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A361DDBF-9519-E4E4-D37A-34B7F608A4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1631" y="1343045"/>
            <a:ext cx="4192369" cy="2357491"/>
          </a:xfrm>
          <a:prstGeom prst="rect">
            <a:avLst/>
          </a:prstGeom>
        </p:spPr>
      </p:pic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494D2A8B-4038-A469-20B6-A5164A6F0361}"/>
              </a:ext>
            </a:extLst>
          </p:cNvPr>
          <p:cNvSpPr/>
          <p:nvPr/>
        </p:nvSpPr>
        <p:spPr>
          <a:xfrm>
            <a:off x="7931150" y="4870450"/>
            <a:ext cx="1174750" cy="2159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72220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AA55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О проекте</a:t>
            </a:r>
            <a:endParaRPr lang="en-US" sz="1350" dirty="0">
              <a:solidFill>
                <a:srgbClr val="AA550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96119" y="1335435"/>
            <a:ext cx="3902943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AA55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Roguelike Console Game</a:t>
            </a:r>
            <a:r>
              <a:rPr lang="en-US" sz="1100" dirty="0">
                <a:solidFill>
                  <a:srgbClr val="AA55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</a:t>
            </a: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— консольная игра, воссоздающая геймплей классического Rogue (1980) с современным техническим подходом. Проект демонстрирует применение архитектурных паттернов и принципов проектирования.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96119" y="2611264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AA55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Цель</a:t>
            </a:r>
            <a:endParaRPr lang="en-US" sz="1350" dirty="0">
              <a:solidFill>
                <a:srgbClr val="AA5500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496119" y="2974479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Реализовать полнофункциональный Roguelike-движок с процедурной генерацией, пошаговой боевой системой и сохранением прогресса.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647605" y="830461"/>
            <a:ext cx="4107135" cy="3482504"/>
          </a:xfrm>
          <a:prstGeom prst="roundRect">
            <a:avLst>
              <a:gd name="adj" fmla="val 2931"/>
            </a:avLst>
          </a:prstGeom>
          <a:solidFill>
            <a:srgbClr val="F2F2F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4789363" y="989930"/>
            <a:ext cx="318939" cy="318939"/>
          </a:xfrm>
          <a:prstGeom prst="roundRect">
            <a:avLst>
              <a:gd name="adj" fmla="val 18669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4842532" y="1016496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1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5250061" y="1038597"/>
            <a:ext cx="307218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AA55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Проектирование архитектуры MVC</a:t>
            </a:r>
            <a:endParaRPr lang="en-US" sz="1350" dirty="0">
              <a:solidFill>
                <a:srgbClr val="AA5500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5250061" y="1401812"/>
            <a:ext cx="336292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Разделение на Presentation, Domain и Data Layer с изоляцией слоёв.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89363" y="2138958"/>
            <a:ext cx="318939" cy="318939"/>
          </a:xfrm>
          <a:prstGeom prst="roundRect">
            <a:avLst>
              <a:gd name="adj" fmla="val 18669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4842532" y="2165524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2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5250061" y="2187625"/>
            <a:ext cx="244658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AA55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Реализация игровой логики</a:t>
            </a:r>
            <a:endParaRPr lang="en-US" sz="1350" dirty="0">
              <a:solidFill>
                <a:srgbClr val="AA5500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5250061" y="2550840"/>
            <a:ext cx="336292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Процедурная генерация, туман войны, система боя и инвентарь.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89363" y="3287985"/>
            <a:ext cx="318939" cy="318939"/>
          </a:xfrm>
          <a:prstGeom prst="roundRect">
            <a:avLst>
              <a:gd name="adj" fmla="val 18669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4842532" y="3314551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3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5250061" y="3336652"/>
            <a:ext cx="21617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AA55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Инфраструктура проекта</a:t>
            </a:r>
            <a:endParaRPr lang="en-US" sz="1350" dirty="0">
              <a:solidFill>
                <a:srgbClr val="AA5500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5250061" y="3699867"/>
            <a:ext cx="336292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Сборка Gradle, контроль версий Git, сериализация через JSON.</a:t>
            </a:r>
            <a:endParaRPr lang="en-US" sz="1100" dirty="0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4FB026C6-ACE2-2231-A572-93C5EDC3B762}"/>
              </a:ext>
            </a:extLst>
          </p:cNvPr>
          <p:cNvSpPr/>
          <p:nvPr/>
        </p:nvSpPr>
        <p:spPr>
          <a:xfrm>
            <a:off x="7931150" y="4870450"/>
            <a:ext cx="1174750" cy="2159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9380"/>
            <a:ext cx="4395564" cy="373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AA55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Используемые технологии</a:t>
            </a:r>
            <a:endParaRPr lang="en-US" sz="2350" dirty="0">
              <a:solidFill>
                <a:srgbClr val="AA550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96119" y="974973"/>
            <a:ext cx="8608963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AA55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Каждая технология решает конкретную архитектурную задачу в проекте.</a:t>
            </a:r>
            <a:endParaRPr lang="en-US" sz="900" dirty="0">
              <a:solidFill>
                <a:srgbClr val="AA5500"/>
              </a:solidFill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264816"/>
            <a:ext cx="298996" cy="2989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1689943"/>
            <a:ext cx="14952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AA55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Java 21</a:t>
            </a:r>
            <a:endParaRPr lang="en-US" sz="1150" dirty="0">
              <a:solidFill>
                <a:srgbClr val="AA5500"/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496119" y="1937296"/>
            <a:ext cx="4012778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Основной язык реализации. Records, pattern matching, sealed classes для моделирования предметной области.</a:t>
            </a:r>
            <a:endParaRPr lang="en-US" sz="9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5029" y="1264816"/>
            <a:ext cx="298996" cy="29899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35029" y="1689943"/>
            <a:ext cx="14952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AA55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Gradle</a:t>
            </a:r>
            <a:endParaRPr lang="en-US" sz="1150" dirty="0">
              <a:solidFill>
                <a:srgbClr val="AA5500"/>
              </a:solidFill>
            </a:endParaRPr>
          </a:p>
        </p:txBody>
      </p:sp>
      <p:sp>
        <p:nvSpPr>
          <p:cNvPr id="9" name="Text 5"/>
          <p:cNvSpPr/>
          <p:nvPr/>
        </p:nvSpPr>
        <p:spPr>
          <a:xfrm>
            <a:off x="4635029" y="1937296"/>
            <a:ext cx="4012853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Система сборки и управления зависимостями. Автоматизация компиляции и упаковки JAR-артефакта.</a:t>
            </a:r>
            <a:endParaRPr lang="en-US" sz="9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2491829"/>
            <a:ext cx="298996" cy="29899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96119" y="2916957"/>
            <a:ext cx="14952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AA55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JSON</a:t>
            </a:r>
            <a:endParaRPr lang="en-US" sz="1150" dirty="0">
              <a:solidFill>
                <a:srgbClr val="AA5500"/>
              </a:solidFill>
            </a:endParaRPr>
          </a:p>
        </p:txBody>
      </p:sp>
      <p:sp>
        <p:nvSpPr>
          <p:cNvPr id="12" name="Text 7"/>
          <p:cNvSpPr/>
          <p:nvPr/>
        </p:nvSpPr>
        <p:spPr>
          <a:xfrm>
            <a:off x="496119" y="3164309"/>
            <a:ext cx="4012778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Формат сериализации состояния игры: характеристики персонажа, инвентарь, прогресс уровней, таблица рекордов.</a:t>
            </a:r>
            <a:endParaRPr lang="en-US" sz="9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35029" y="2491829"/>
            <a:ext cx="298996" cy="29899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635029" y="2916957"/>
            <a:ext cx="14952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AA55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Git и GitLab</a:t>
            </a:r>
            <a:endParaRPr lang="en-US" sz="1150" dirty="0">
              <a:solidFill>
                <a:srgbClr val="AA5500"/>
              </a:solidFill>
            </a:endParaRPr>
          </a:p>
        </p:txBody>
      </p:sp>
      <p:sp>
        <p:nvSpPr>
          <p:cNvPr id="15" name="Text 9"/>
          <p:cNvSpPr/>
          <p:nvPr/>
        </p:nvSpPr>
        <p:spPr>
          <a:xfrm>
            <a:off x="4635029" y="3164309"/>
            <a:ext cx="4012853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Контроль версий и хостинг репозитория. Ведение истории изменений и совместная разработка.</a:t>
            </a:r>
            <a:endParaRPr lang="en-US" sz="9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119" y="3718843"/>
            <a:ext cx="298996" cy="29899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96119" y="4143970"/>
            <a:ext cx="14952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AA55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JCurses</a:t>
            </a:r>
            <a:endParaRPr lang="en-US" sz="1150" dirty="0">
              <a:solidFill>
                <a:srgbClr val="AA5500"/>
              </a:solidFill>
            </a:endParaRPr>
          </a:p>
        </p:txBody>
      </p:sp>
      <p:sp>
        <p:nvSpPr>
          <p:cNvPr id="18" name="Text 11"/>
          <p:cNvSpPr/>
          <p:nvPr/>
        </p:nvSpPr>
        <p:spPr>
          <a:xfrm>
            <a:off x="496119" y="4391323"/>
            <a:ext cx="4012778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Библиотека консольного ввода-вывода. Рендеринг игрового поля и обработка клавиатурного ввода в терминале.</a:t>
            </a:r>
            <a:endParaRPr lang="en-US" sz="9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35029" y="3718843"/>
            <a:ext cx="298996" cy="298996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4635029" y="4143970"/>
            <a:ext cx="14952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AA55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ООП, SOLID, MVC</a:t>
            </a:r>
            <a:endParaRPr lang="en-US" sz="1150" dirty="0">
              <a:solidFill>
                <a:srgbClr val="AA5500"/>
              </a:solidFill>
            </a:endParaRPr>
          </a:p>
        </p:txBody>
      </p:sp>
      <p:sp>
        <p:nvSpPr>
          <p:cNvPr id="21" name="Text 13"/>
          <p:cNvSpPr/>
          <p:nvPr/>
        </p:nvSpPr>
        <p:spPr>
          <a:xfrm>
            <a:off x="4635029" y="4391323"/>
            <a:ext cx="4012853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Архитектурные принципы проектирования. Инкапсуляция сущностей, разделение ответственности, изоляция слоёв.</a:t>
            </a:r>
            <a:endParaRPr lang="en-US" sz="900" dirty="0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8F459A28-1A0C-CB61-5071-D88C323E6D9A}"/>
              </a:ext>
            </a:extLst>
          </p:cNvPr>
          <p:cNvSpPr/>
          <p:nvPr/>
        </p:nvSpPr>
        <p:spPr>
          <a:xfrm>
            <a:off x="7931150" y="4870450"/>
            <a:ext cx="1174750" cy="2159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67991" y="389855"/>
            <a:ext cx="3092202" cy="263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AA55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Архитектура приложения</a:t>
            </a:r>
            <a:endParaRPr lang="en-US" sz="1650" dirty="0">
              <a:solidFill>
                <a:srgbClr val="AA550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1667991" y="772790"/>
            <a:ext cx="2801317" cy="3219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6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Трёхуровневая архитектура с однонаправленной зависимостью. Каждый слой изолирован и взаимодействует только с соседним через чётко определённые интерфейсы.</a:t>
            </a:r>
            <a:endParaRPr lang="en-US" sz="6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79454" y="784027"/>
            <a:ext cx="2801317" cy="80166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16972" y="838498"/>
            <a:ext cx="126206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1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4773141" y="1095970"/>
            <a:ext cx="1052140" cy="131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AA55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Presentation</a:t>
            </a:r>
            <a:endParaRPr lang="en-US" sz="800" dirty="0">
              <a:solidFill>
                <a:srgbClr val="AA5500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4773141" y="1277392"/>
            <a:ext cx="2613943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6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Отвечает за отображение в терминале и обработку ввода. Не содержит игровой логики. Зависит только от Domain.</a:t>
            </a:r>
            <a:endParaRPr lang="en-US" sz="6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79454" y="1635621"/>
            <a:ext cx="2801317" cy="80166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016972" y="1690092"/>
            <a:ext cx="126206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2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4773141" y="1947565"/>
            <a:ext cx="1052140" cy="131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AA55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Domain</a:t>
            </a:r>
            <a:endParaRPr lang="en-US" sz="800" dirty="0">
              <a:solidFill>
                <a:srgbClr val="AA5500"/>
              </a:solidFill>
            </a:endParaRPr>
          </a:p>
        </p:txBody>
      </p:sp>
      <p:sp>
        <p:nvSpPr>
          <p:cNvPr id="11" name="Text 7"/>
          <p:cNvSpPr/>
          <p:nvPr/>
        </p:nvSpPr>
        <p:spPr>
          <a:xfrm>
            <a:off x="4773141" y="2128986"/>
            <a:ext cx="2613943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6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Игровое ядро: генерация, бой, туман войны. Не зависит ни от UI, ни от хранилища. Реализует SOLID.</a:t>
            </a:r>
            <a:endParaRPr lang="en-US" sz="6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79454" y="2487216"/>
            <a:ext cx="2801317" cy="80166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016972" y="2541687"/>
            <a:ext cx="126206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3</a:t>
            </a:r>
            <a:endParaRPr lang="en-US" sz="950" dirty="0"/>
          </a:p>
        </p:txBody>
      </p:sp>
      <p:sp>
        <p:nvSpPr>
          <p:cNvPr id="14" name="Text 9"/>
          <p:cNvSpPr/>
          <p:nvPr/>
        </p:nvSpPr>
        <p:spPr>
          <a:xfrm>
            <a:off x="4773141" y="2799159"/>
            <a:ext cx="1052140" cy="131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AA55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Data</a:t>
            </a:r>
            <a:endParaRPr lang="en-US" sz="800" dirty="0">
              <a:solidFill>
                <a:srgbClr val="AA5500"/>
              </a:solidFill>
            </a:endParaRPr>
          </a:p>
        </p:txBody>
      </p:sp>
      <p:sp>
        <p:nvSpPr>
          <p:cNvPr id="15" name="Text 10"/>
          <p:cNvSpPr/>
          <p:nvPr/>
        </p:nvSpPr>
        <p:spPr>
          <a:xfrm>
            <a:off x="4773141" y="2980581"/>
            <a:ext cx="2613943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6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Сериализация состояния в JSON, загрузка сохранений и таблицы рекордов. Изолирован от бизнес-логики.</a:t>
            </a:r>
            <a:endParaRPr lang="en-US" sz="6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0806" y="3401244"/>
            <a:ext cx="983531" cy="45027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060725" y="3598664"/>
            <a:ext cx="118318" cy="1479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1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3683273" y="3485406"/>
            <a:ext cx="957188" cy="131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AA55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Presentation Layer</a:t>
            </a:r>
            <a:endParaRPr lang="en-US" sz="800" dirty="0">
              <a:solidFill>
                <a:srgbClr val="AA5500"/>
              </a:solidFill>
            </a:endParaRPr>
          </a:p>
        </p:txBody>
      </p:sp>
      <p:sp>
        <p:nvSpPr>
          <p:cNvPr id="19" name="Text 13"/>
          <p:cNvSpPr/>
          <p:nvPr/>
        </p:nvSpPr>
        <p:spPr>
          <a:xfrm>
            <a:off x="3683273" y="3646810"/>
            <a:ext cx="957188" cy="10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6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Рендеринг, ввод, UI</a:t>
            </a:r>
            <a:endParaRPr lang="en-US" sz="650" dirty="0"/>
          </a:p>
        </p:txBody>
      </p:sp>
      <p:sp>
        <p:nvSpPr>
          <p:cNvPr id="20" name="Shape 14"/>
          <p:cNvSpPr/>
          <p:nvPr/>
        </p:nvSpPr>
        <p:spPr>
          <a:xfrm>
            <a:off x="3620095" y="3846388"/>
            <a:ext cx="3834929" cy="4763"/>
          </a:xfrm>
          <a:prstGeom prst="roundRect">
            <a:avLst>
              <a:gd name="adj" fmla="val 742248"/>
            </a:avLst>
          </a:prstGeom>
          <a:solidFill>
            <a:srgbClr val="56565B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61654" y="3859262"/>
            <a:ext cx="1967061" cy="450279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060799" y="4003774"/>
            <a:ext cx="118318" cy="1479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2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4162425" y="3943424"/>
            <a:ext cx="1026393" cy="131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AA55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Domain Layer</a:t>
            </a:r>
            <a:endParaRPr lang="en-US" sz="800" dirty="0">
              <a:solidFill>
                <a:srgbClr val="AA5500"/>
              </a:solidFill>
            </a:endParaRPr>
          </a:p>
        </p:txBody>
      </p:sp>
      <p:sp>
        <p:nvSpPr>
          <p:cNvPr id="24" name="Text 17"/>
          <p:cNvSpPr/>
          <p:nvPr/>
        </p:nvSpPr>
        <p:spPr>
          <a:xfrm>
            <a:off x="4162425" y="4104829"/>
            <a:ext cx="1026393" cy="10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6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Игровая логика, механики</a:t>
            </a:r>
            <a:endParaRPr lang="en-US" sz="650" dirty="0"/>
          </a:p>
        </p:txBody>
      </p:sp>
      <p:sp>
        <p:nvSpPr>
          <p:cNvPr id="25" name="Shape 18"/>
          <p:cNvSpPr/>
          <p:nvPr/>
        </p:nvSpPr>
        <p:spPr>
          <a:xfrm>
            <a:off x="4099247" y="4304407"/>
            <a:ext cx="3355777" cy="4763"/>
          </a:xfrm>
          <a:prstGeom prst="roundRect">
            <a:avLst>
              <a:gd name="adj" fmla="val 742248"/>
            </a:avLst>
          </a:prstGeom>
          <a:solidFill>
            <a:srgbClr val="56565B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82502" y="4317281"/>
            <a:ext cx="2950592" cy="450279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3060725" y="4461793"/>
            <a:ext cx="118318" cy="1479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3</a:t>
            </a:r>
            <a:endParaRPr lang="en-US" sz="900" dirty="0"/>
          </a:p>
        </p:txBody>
      </p:sp>
      <p:sp>
        <p:nvSpPr>
          <p:cNvPr id="28" name="Text 20"/>
          <p:cNvSpPr/>
          <p:nvPr/>
        </p:nvSpPr>
        <p:spPr>
          <a:xfrm>
            <a:off x="4641577" y="4401443"/>
            <a:ext cx="1052140" cy="131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AA55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Data Layer</a:t>
            </a:r>
            <a:endParaRPr lang="en-US" sz="800" dirty="0">
              <a:solidFill>
                <a:srgbClr val="AA5500"/>
              </a:solidFill>
            </a:endParaRPr>
          </a:p>
        </p:txBody>
      </p:sp>
      <p:sp>
        <p:nvSpPr>
          <p:cNvPr id="29" name="Text 21"/>
          <p:cNvSpPr/>
          <p:nvPr/>
        </p:nvSpPr>
        <p:spPr>
          <a:xfrm>
            <a:off x="4641577" y="4562847"/>
            <a:ext cx="1089124" cy="10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6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Сохранение, загрузка, JSON</a:t>
            </a:r>
            <a:endParaRPr lang="en-US" sz="650" dirty="0"/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5329D6D8-CCB6-2D3F-26C2-A8252DD9DB30}"/>
              </a:ext>
            </a:extLst>
          </p:cNvPr>
          <p:cNvSpPr/>
          <p:nvPr/>
        </p:nvSpPr>
        <p:spPr>
          <a:xfrm>
            <a:off x="7931150" y="4870450"/>
            <a:ext cx="1174750" cy="2159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56679"/>
            <a:ext cx="3811191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AA55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Основные механики</a:t>
            </a:r>
            <a:endParaRPr lang="en-US" sz="2600" dirty="0">
              <a:solidFill>
                <a:srgbClr val="AA5500"/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496119" y="3166765"/>
            <a:ext cx="1921073" cy="4153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AA55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Процедурная генерация</a:t>
            </a:r>
            <a:endParaRPr lang="en-US" sz="1300" dirty="0">
              <a:solidFill>
                <a:srgbClr val="AA5500"/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496119" y="3449241"/>
            <a:ext cx="1921073" cy="1029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21 уровень подземелий генерируется алгоритмически при каждом запуске. Комнаты, коридоры и размещение врагов уникальны.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2572941" y="3166839"/>
            <a:ext cx="1905893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AA55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Инвентарь и предметы</a:t>
            </a:r>
            <a:endParaRPr lang="en-US" sz="1300" dirty="0">
              <a:solidFill>
                <a:srgbClr val="AA5500"/>
              </a:solidFill>
            </a:endParaRPr>
          </a:p>
        </p:txBody>
      </p:sp>
      <p:sp>
        <p:nvSpPr>
          <p:cNvPr id="8" name="Text 4"/>
          <p:cNvSpPr/>
          <p:nvPr/>
        </p:nvSpPr>
        <p:spPr>
          <a:xfrm>
            <a:off x="2572941" y="3449241"/>
            <a:ext cx="1921148" cy="823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Подбор, хранение и использование снаряжения. Оружие, броня, зелья и ключевые предметы.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4649837" y="3166839"/>
            <a:ext cx="190760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AA55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Система характеристик</a:t>
            </a:r>
            <a:endParaRPr lang="en-US" sz="1300" dirty="0">
              <a:solidFill>
                <a:srgbClr val="AA5500"/>
              </a:solidFill>
            </a:endParaRPr>
          </a:p>
        </p:txBody>
      </p:sp>
      <p:sp>
        <p:nvSpPr>
          <p:cNvPr id="11" name="Text 6"/>
          <p:cNvSpPr/>
          <p:nvPr/>
        </p:nvSpPr>
        <p:spPr>
          <a:xfrm>
            <a:off x="4649837" y="3449241"/>
            <a:ext cx="1921148" cy="823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Здоровье, сила, ловкость, броня. Ловкость влияет на шанс попадания и уклонения в бою.</a:t>
            </a:r>
            <a:endParaRPr lang="en-US" sz="1000" dirty="0"/>
          </a:p>
        </p:txBody>
      </p:sp>
      <p:sp>
        <p:nvSpPr>
          <p:cNvPr id="13" name="Text 7"/>
          <p:cNvSpPr/>
          <p:nvPr/>
        </p:nvSpPr>
        <p:spPr>
          <a:xfrm>
            <a:off x="6726734" y="3166839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AA55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Туман войны</a:t>
            </a:r>
            <a:endParaRPr lang="en-US" sz="1300" dirty="0">
              <a:solidFill>
                <a:srgbClr val="AA5500"/>
              </a:solidFill>
            </a:endParaRPr>
          </a:p>
        </p:txBody>
      </p:sp>
      <p:sp>
        <p:nvSpPr>
          <p:cNvPr id="14" name="Text 8"/>
          <p:cNvSpPr/>
          <p:nvPr/>
        </p:nvSpPr>
        <p:spPr>
          <a:xfrm>
            <a:off x="6726734" y="3449241"/>
            <a:ext cx="1921148" cy="1029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Алгоритм Ray Casting и Брезенхэма определяют видимость клеток. Только исследованные области остаются видны.</a:t>
            </a:r>
            <a:endParaRPr lang="en-US" sz="1000" dirty="0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71C61B4E-7BF5-4074-2667-BAD5EB18B865}"/>
              </a:ext>
            </a:extLst>
          </p:cNvPr>
          <p:cNvSpPr/>
          <p:nvPr/>
        </p:nvSpPr>
        <p:spPr>
          <a:xfrm>
            <a:off x="7931150" y="4870450"/>
            <a:ext cx="1174750" cy="2159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97B060BF-4F73-C649-3918-CEC557565B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1141" y="1121122"/>
            <a:ext cx="1969844" cy="1921072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65A7F674-C2A3-8054-91E5-10FA108510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2" y="1121122"/>
            <a:ext cx="1969844" cy="1921072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A13E1928-1F51-D524-A0A2-56FC924CC2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63915" y="1121198"/>
            <a:ext cx="1981477" cy="1920996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47EB0AA4-020A-5CEF-F6EF-81CE1F8085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6734" y="1121122"/>
            <a:ext cx="1956299" cy="192099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0912" y="393502"/>
            <a:ext cx="3226073" cy="34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dirty="0">
                <a:solidFill>
                  <a:srgbClr val="AA55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Игровые сущности</a:t>
            </a:r>
            <a:endParaRPr lang="en-US" sz="2150" dirty="0">
              <a:solidFill>
                <a:srgbClr val="AA550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750912" y="1935807"/>
            <a:ext cx="3685952" cy="9465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Каждая сущность — изолированный класс с собственным поведением. Враги наследуют общий интерфейс противников и реализуют специфическое поведение: зомби преследуют игрока, вампиры восстанавливают здоровье при ударе, привидения проходят сквозь стены, огра наносят тяжёлые удары, змеи-маги атакуют на расстоянии.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750912" y="2979688"/>
            <a:ext cx="3685952" cy="684312"/>
          </a:xfrm>
          <a:prstGeom prst="roundRect">
            <a:avLst>
              <a:gd name="adj" fmla="val 6798"/>
            </a:avLst>
          </a:prstGeom>
          <a:solidFill>
            <a:srgbClr val="252528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640" y="3135511"/>
            <a:ext cx="138410" cy="1107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10779" y="3085207"/>
            <a:ext cx="3215357" cy="473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Все сущности спроектированы по принципу Open/Closed — добавление нового врага не требует изменения существующего кода.</a:t>
            </a:r>
            <a:endParaRPr lang="en-US" sz="8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1750" y="966713"/>
            <a:ext cx="3685952" cy="3685952"/>
          </a:xfrm>
          <a:prstGeom prst="rect">
            <a:avLst/>
          </a:prstGeom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5179F23-9A4E-B5C0-4588-F09EE8D647D2}"/>
              </a:ext>
            </a:extLst>
          </p:cNvPr>
          <p:cNvSpPr/>
          <p:nvPr/>
        </p:nvSpPr>
        <p:spPr>
          <a:xfrm>
            <a:off x="7931150" y="4870450"/>
            <a:ext cx="1174750" cy="2159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62298" y="424681"/>
            <a:ext cx="4537695" cy="290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AA55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Алгоритмы и технические решения</a:t>
            </a:r>
            <a:endParaRPr lang="en-US" sz="1800" dirty="0">
              <a:solidFill>
                <a:srgbClr val="AA5500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1362298" y="875630"/>
            <a:ext cx="209327" cy="209327"/>
          </a:xfrm>
          <a:prstGeom prst="roundRect">
            <a:avLst>
              <a:gd name="adj" fmla="val 18667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1397161" y="893043"/>
            <a:ext cx="139526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1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632645" y="907554"/>
            <a:ext cx="1808262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AA55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Генерация комнат и коридоров</a:t>
            </a:r>
            <a:endParaRPr lang="en-US" sz="900" dirty="0">
              <a:solidFill>
                <a:srgbClr val="AA550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1632645" y="1113904"/>
            <a:ext cx="1828874" cy="4929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Алгоритм случайного размещения прямоугольных комнат с последующим соединением коридорами. Проверка пересечений.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1362298" y="1728862"/>
            <a:ext cx="209327" cy="209327"/>
          </a:xfrm>
          <a:prstGeom prst="roundRect">
            <a:avLst>
              <a:gd name="adj" fmla="val 18667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1397161" y="1746275"/>
            <a:ext cx="139526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2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632645" y="1760786"/>
            <a:ext cx="1527646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AA55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Проверка связности карты</a:t>
            </a:r>
            <a:endParaRPr lang="en-US" sz="900" dirty="0">
              <a:solidFill>
                <a:srgbClr val="AA5500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1632645" y="1967136"/>
            <a:ext cx="1828874" cy="369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Обход графа доступных клеток. Гарантия достижимости всех комнат одной из другой.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1362298" y="2458864"/>
            <a:ext cx="209327" cy="209327"/>
          </a:xfrm>
          <a:prstGeom prst="roundRect">
            <a:avLst>
              <a:gd name="adj" fmla="val 18667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1397161" y="2476277"/>
            <a:ext cx="139526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3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632645" y="2490788"/>
            <a:ext cx="1360512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AA55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Пошаговая система боя</a:t>
            </a:r>
            <a:endParaRPr lang="en-US" sz="900" dirty="0">
              <a:solidFill>
                <a:srgbClr val="AA5500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1632645" y="2697138"/>
            <a:ext cx="1828874" cy="369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Игрок и враги действуют поочерёдно. Расчёт попадания по характеристике ловкости атакующего и защитника.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1362298" y="3188866"/>
            <a:ext cx="209327" cy="209327"/>
          </a:xfrm>
          <a:prstGeom prst="roundRect">
            <a:avLst>
              <a:gd name="adj" fmla="val 18667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1397161" y="3206279"/>
            <a:ext cx="139526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4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632645" y="3220789"/>
            <a:ext cx="1432843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AA55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Ray Casting и Брезенхэм</a:t>
            </a:r>
            <a:endParaRPr lang="en-US" sz="900" dirty="0">
              <a:solidFill>
                <a:srgbClr val="AA5500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1632645" y="3427140"/>
            <a:ext cx="1828874" cy="4929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Алгоритм Брезенхэма — для расчёта линий обзора. Ray Casting — для тумана войны: определение видимых клеток вокруг игрока.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1362298" y="4042097"/>
            <a:ext cx="209327" cy="209327"/>
          </a:xfrm>
          <a:prstGeom prst="roundRect">
            <a:avLst>
              <a:gd name="adj" fmla="val 18667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Text 18"/>
          <p:cNvSpPr/>
          <p:nvPr/>
        </p:nvSpPr>
        <p:spPr>
          <a:xfrm>
            <a:off x="1397161" y="4059510"/>
            <a:ext cx="139526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5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632645" y="4074021"/>
            <a:ext cx="1186830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AA55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Система</a:t>
            </a:r>
            <a:r>
              <a:rPr lang="en-US" sz="9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900" dirty="0">
                <a:solidFill>
                  <a:srgbClr val="AA55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сохранений</a:t>
            </a:r>
            <a:endParaRPr lang="en-US" sz="900" dirty="0">
              <a:solidFill>
                <a:srgbClr val="AA5500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1632645" y="4280371"/>
            <a:ext cx="1828874" cy="369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Сериализация состояния игры в JSON. Сохранение уровня, характеристик, инвентаря и позиции всех сущностей.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3693244" y="3840510"/>
            <a:ext cx="4093146" cy="246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Комбинация алгоритмических решений обеспечивает корректную генерацию, видимость и взаимодействие всех объектов игрового мира.</a:t>
            </a:r>
            <a:endParaRPr lang="en-US" sz="700" dirty="0"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39370451-50FD-EA62-68D8-C1B55A9AA5C3}"/>
              </a:ext>
            </a:extLst>
          </p:cNvPr>
          <p:cNvSpPr/>
          <p:nvPr/>
        </p:nvSpPr>
        <p:spPr>
          <a:xfrm>
            <a:off x="7931150" y="4870450"/>
            <a:ext cx="1174750" cy="2159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59596DAD-90E5-D314-0510-102C5F123D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3244" y="1452414"/>
            <a:ext cx="4359117" cy="231941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15145" y="391120"/>
            <a:ext cx="2972544" cy="276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AA55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Демонстрация проекта</a:t>
            </a:r>
            <a:endParaRPr lang="en-US" sz="1700" dirty="0">
              <a:solidFill>
                <a:srgbClr val="AA550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1515145" y="778743"/>
            <a:ext cx="6570911" cy="92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endParaRPr lang="en-US" sz="550" dirty="0"/>
          </a:p>
        </p:txBody>
      </p:sp>
      <p:sp>
        <p:nvSpPr>
          <p:cNvPr id="9" name="Shape 2"/>
          <p:cNvSpPr/>
          <p:nvPr/>
        </p:nvSpPr>
        <p:spPr>
          <a:xfrm>
            <a:off x="4567238" y="2277219"/>
            <a:ext cx="9525" cy="2475086"/>
          </a:xfrm>
          <a:prstGeom prst="roundRect">
            <a:avLst>
              <a:gd name="adj" fmla="val 390698"/>
            </a:avLst>
          </a:prstGeom>
          <a:solidFill>
            <a:srgbClr val="56565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Shape 3"/>
          <p:cNvSpPr/>
          <p:nvPr/>
        </p:nvSpPr>
        <p:spPr>
          <a:xfrm>
            <a:off x="4404345" y="2372097"/>
            <a:ext cx="177180" cy="9525"/>
          </a:xfrm>
          <a:prstGeom prst="roundRect">
            <a:avLst>
              <a:gd name="adj" fmla="val 390698"/>
            </a:avLst>
          </a:prstGeom>
          <a:solidFill>
            <a:srgbClr val="56565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Shape 4"/>
          <p:cNvSpPr/>
          <p:nvPr/>
        </p:nvSpPr>
        <p:spPr>
          <a:xfrm>
            <a:off x="4538774" y="2343634"/>
            <a:ext cx="66452" cy="66452"/>
          </a:xfrm>
          <a:prstGeom prst="roundRect">
            <a:avLst>
              <a:gd name="adj" fmla="val 430010"/>
            </a:avLst>
          </a:prstGeom>
          <a:solidFill>
            <a:srgbClr val="F2F2F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" name="Text 5"/>
          <p:cNvSpPr/>
          <p:nvPr/>
        </p:nvSpPr>
        <p:spPr>
          <a:xfrm>
            <a:off x="1515145" y="2305943"/>
            <a:ext cx="2702496" cy="115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8000"/>
              </a:lnSpc>
              <a:buNone/>
            </a:pPr>
            <a:r>
              <a:rPr lang="en-US" sz="650" dirty="0">
                <a:solidFill>
                  <a:srgbClr val="AA55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Главное меню</a:t>
            </a:r>
            <a:endParaRPr lang="en-US" sz="650" dirty="0">
              <a:solidFill>
                <a:srgbClr val="AA5500"/>
              </a:solidFill>
            </a:endParaRPr>
          </a:p>
        </p:txBody>
      </p:sp>
      <p:sp>
        <p:nvSpPr>
          <p:cNvPr id="13" name="Shape 6"/>
          <p:cNvSpPr/>
          <p:nvPr/>
        </p:nvSpPr>
        <p:spPr>
          <a:xfrm>
            <a:off x="4562475" y="2837185"/>
            <a:ext cx="177180" cy="9525"/>
          </a:xfrm>
          <a:prstGeom prst="roundRect">
            <a:avLst>
              <a:gd name="adj" fmla="val 390698"/>
            </a:avLst>
          </a:prstGeom>
          <a:solidFill>
            <a:srgbClr val="56565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Shape 7"/>
          <p:cNvSpPr/>
          <p:nvPr/>
        </p:nvSpPr>
        <p:spPr>
          <a:xfrm>
            <a:off x="4538774" y="2808722"/>
            <a:ext cx="66452" cy="66452"/>
          </a:xfrm>
          <a:prstGeom prst="roundRect">
            <a:avLst>
              <a:gd name="adj" fmla="val 430010"/>
            </a:avLst>
          </a:prstGeom>
          <a:solidFill>
            <a:srgbClr val="F2F2F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8"/>
          <p:cNvSpPr/>
          <p:nvPr/>
        </p:nvSpPr>
        <p:spPr>
          <a:xfrm>
            <a:off x="4926360" y="2771031"/>
            <a:ext cx="2702496" cy="115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50" dirty="0">
                <a:solidFill>
                  <a:srgbClr val="AA55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Игровой процесс</a:t>
            </a:r>
            <a:endParaRPr lang="en-US" sz="650" dirty="0">
              <a:solidFill>
                <a:srgbClr val="AA5500"/>
              </a:solidFill>
            </a:endParaRPr>
          </a:p>
        </p:txBody>
      </p:sp>
      <p:sp>
        <p:nvSpPr>
          <p:cNvPr id="16" name="Shape 9"/>
          <p:cNvSpPr/>
          <p:nvPr/>
        </p:nvSpPr>
        <p:spPr>
          <a:xfrm>
            <a:off x="4404345" y="3261271"/>
            <a:ext cx="177180" cy="9525"/>
          </a:xfrm>
          <a:prstGeom prst="roundRect">
            <a:avLst>
              <a:gd name="adj" fmla="val 390698"/>
            </a:avLst>
          </a:prstGeom>
          <a:solidFill>
            <a:srgbClr val="56565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Shape 10"/>
          <p:cNvSpPr/>
          <p:nvPr/>
        </p:nvSpPr>
        <p:spPr>
          <a:xfrm>
            <a:off x="4538774" y="3232807"/>
            <a:ext cx="66452" cy="66452"/>
          </a:xfrm>
          <a:prstGeom prst="roundRect">
            <a:avLst>
              <a:gd name="adj" fmla="val 430010"/>
            </a:avLst>
          </a:prstGeom>
          <a:solidFill>
            <a:srgbClr val="F2F2F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8" name="Text 11"/>
          <p:cNvSpPr/>
          <p:nvPr/>
        </p:nvSpPr>
        <p:spPr>
          <a:xfrm>
            <a:off x="1515145" y="3195117"/>
            <a:ext cx="2702496" cy="115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8000"/>
              </a:lnSpc>
              <a:buNone/>
            </a:pPr>
            <a:r>
              <a:rPr lang="en-US" sz="650" dirty="0">
                <a:solidFill>
                  <a:srgbClr val="AA55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Инвентарь</a:t>
            </a:r>
            <a:endParaRPr lang="en-US" sz="650" dirty="0">
              <a:solidFill>
                <a:srgbClr val="AA5500"/>
              </a:solidFill>
            </a:endParaRPr>
          </a:p>
        </p:txBody>
      </p:sp>
      <p:sp>
        <p:nvSpPr>
          <p:cNvPr id="19" name="Shape 12"/>
          <p:cNvSpPr/>
          <p:nvPr/>
        </p:nvSpPr>
        <p:spPr>
          <a:xfrm>
            <a:off x="4562475" y="3685431"/>
            <a:ext cx="177180" cy="9525"/>
          </a:xfrm>
          <a:prstGeom prst="roundRect">
            <a:avLst>
              <a:gd name="adj" fmla="val 390698"/>
            </a:avLst>
          </a:prstGeom>
          <a:solidFill>
            <a:srgbClr val="56565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0" name="Shape 13"/>
          <p:cNvSpPr/>
          <p:nvPr/>
        </p:nvSpPr>
        <p:spPr>
          <a:xfrm>
            <a:off x="4538774" y="3656967"/>
            <a:ext cx="66452" cy="66452"/>
          </a:xfrm>
          <a:prstGeom prst="roundRect">
            <a:avLst>
              <a:gd name="adj" fmla="val 430010"/>
            </a:avLst>
          </a:prstGeom>
          <a:solidFill>
            <a:srgbClr val="F2F2F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1" name="Text 14"/>
          <p:cNvSpPr/>
          <p:nvPr/>
        </p:nvSpPr>
        <p:spPr>
          <a:xfrm>
            <a:off x="4926360" y="3619277"/>
            <a:ext cx="2702496" cy="115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50" dirty="0">
                <a:solidFill>
                  <a:srgbClr val="AA55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Бой</a:t>
            </a:r>
            <a:endParaRPr lang="en-US" sz="650" dirty="0">
              <a:solidFill>
                <a:srgbClr val="AA5500"/>
              </a:solidFill>
            </a:endParaRPr>
          </a:p>
        </p:txBody>
      </p:sp>
      <p:sp>
        <p:nvSpPr>
          <p:cNvPr id="22" name="Shape 15"/>
          <p:cNvSpPr/>
          <p:nvPr/>
        </p:nvSpPr>
        <p:spPr>
          <a:xfrm>
            <a:off x="4404345" y="4109591"/>
            <a:ext cx="177180" cy="9525"/>
          </a:xfrm>
          <a:prstGeom prst="roundRect">
            <a:avLst>
              <a:gd name="adj" fmla="val 390698"/>
            </a:avLst>
          </a:prstGeom>
          <a:solidFill>
            <a:srgbClr val="56565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Shape 16"/>
          <p:cNvSpPr/>
          <p:nvPr/>
        </p:nvSpPr>
        <p:spPr>
          <a:xfrm>
            <a:off x="4538774" y="4081128"/>
            <a:ext cx="66452" cy="66452"/>
          </a:xfrm>
          <a:prstGeom prst="roundRect">
            <a:avLst>
              <a:gd name="adj" fmla="val 430010"/>
            </a:avLst>
          </a:prstGeom>
          <a:solidFill>
            <a:srgbClr val="F2F2F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4" name="Text 17"/>
          <p:cNvSpPr/>
          <p:nvPr/>
        </p:nvSpPr>
        <p:spPr>
          <a:xfrm>
            <a:off x="1515145" y="4043437"/>
            <a:ext cx="2702496" cy="115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8000"/>
              </a:lnSpc>
              <a:buNone/>
            </a:pPr>
            <a:r>
              <a:rPr lang="en-US" sz="650" dirty="0">
                <a:solidFill>
                  <a:srgbClr val="AA55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Таблица рекордов</a:t>
            </a:r>
            <a:endParaRPr lang="en-US" sz="650" dirty="0">
              <a:solidFill>
                <a:srgbClr val="AA5500"/>
              </a:solidFill>
            </a:endParaRP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A45B2F76-4512-73D6-5228-3E99573026A7}"/>
              </a:ext>
            </a:extLst>
          </p:cNvPr>
          <p:cNvSpPr/>
          <p:nvPr/>
        </p:nvSpPr>
        <p:spPr>
          <a:xfrm>
            <a:off x="7931150" y="4870450"/>
            <a:ext cx="1174750" cy="2159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47FAC2DB-B761-4F3C-8AB9-8B18224FCF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9803" y="978835"/>
            <a:ext cx="1742863" cy="1178533"/>
          </a:xfrm>
          <a:prstGeom prst="rect">
            <a:avLst/>
          </a:prstGeom>
        </p:spPr>
      </p:pic>
      <p:pic>
        <p:nvPicPr>
          <p:cNvPr id="42" name="Рисунок 41">
            <a:extLst>
              <a:ext uri="{FF2B5EF4-FFF2-40B4-BE49-F238E27FC236}">
                <a16:creationId xmlns:a16="http://schemas.microsoft.com/office/drawing/2014/main" id="{A010ACD6-8EC2-2B03-0CE0-75128D8826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0568" y="987361"/>
            <a:ext cx="1742863" cy="1178621"/>
          </a:xfrm>
          <a:prstGeom prst="rect">
            <a:avLst/>
          </a:prstGeom>
        </p:spPr>
      </p:pic>
      <p:pic>
        <p:nvPicPr>
          <p:cNvPr id="44" name="Рисунок 43">
            <a:extLst>
              <a:ext uri="{FF2B5EF4-FFF2-40B4-BE49-F238E27FC236}">
                <a16:creationId xmlns:a16="http://schemas.microsoft.com/office/drawing/2014/main" id="{A8ECDB12-D48A-1A73-8E4C-DDC0B463A8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334" y="975542"/>
            <a:ext cx="1742863" cy="1174455"/>
          </a:xfrm>
          <a:prstGeom prst="rect">
            <a:avLst/>
          </a:prstGeom>
        </p:spPr>
      </p:pic>
      <p:pic>
        <p:nvPicPr>
          <p:cNvPr id="46" name="Рисунок 45">
            <a:extLst>
              <a:ext uri="{FF2B5EF4-FFF2-40B4-BE49-F238E27FC236}">
                <a16:creationId xmlns:a16="http://schemas.microsoft.com/office/drawing/2014/main" id="{8DBF2BFE-2F59-640B-29C3-A0045E0856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20951" y="981733"/>
            <a:ext cx="1742863" cy="1174455"/>
          </a:xfrm>
          <a:prstGeom prst="rect">
            <a:avLst/>
          </a:prstGeom>
        </p:spPr>
      </p:pic>
      <p:pic>
        <p:nvPicPr>
          <p:cNvPr id="48" name="Рисунок 47">
            <a:extLst>
              <a:ext uri="{FF2B5EF4-FFF2-40B4-BE49-F238E27FC236}">
                <a16:creationId xmlns:a16="http://schemas.microsoft.com/office/drawing/2014/main" id="{D99F829B-7B34-A900-5CFB-46DF19D6064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0185" y="978835"/>
            <a:ext cx="1742863" cy="117116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96119" y="515913"/>
            <a:ext cx="3613696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dirty="0">
                <a:solidFill>
                  <a:srgbClr val="AA55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Итоги</a:t>
            </a:r>
            <a:endParaRPr lang="en-US" sz="2450" dirty="0">
              <a:solidFill>
                <a:srgbClr val="AA5500"/>
              </a:solidFill>
            </a:endParaRPr>
          </a:p>
        </p:txBody>
      </p:sp>
      <p:sp>
        <p:nvSpPr>
          <p:cNvPr id="4" name="Shape 1"/>
          <p:cNvSpPr/>
          <p:nvPr/>
        </p:nvSpPr>
        <p:spPr>
          <a:xfrm>
            <a:off x="496119" y="1079078"/>
            <a:ext cx="2305124" cy="1099468"/>
          </a:xfrm>
          <a:prstGeom prst="roundRect">
            <a:avLst>
              <a:gd name="adj" fmla="val 4823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Text 2"/>
          <p:cNvSpPr/>
          <p:nvPr/>
        </p:nvSpPr>
        <p:spPr>
          <a:xfrm>
            <a:off x="627087" y="1210047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AA55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Полноценная игра</a:t>
            </a:r>
            <a:endParaRPr lang="en-US" sz="1200" dirty="0">
              <a:solidFill>
                <a:srgbClr val="AA5500"/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627087" y="1474738"/>
            <a:ext cx="2043187" cy="572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Реализован консольный Roguelike с процедурной генерацией, сохранениями и боевой системой.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2913683" y="1079078"/>
            <a:ext cx="2305199" cy="1099468"/>
          </a:xfrm>
          <a:prstGeom prst="roundRect">
            <a:avLst>
              <a:gd name="adj" fmla="val 4823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5"/>
          <p:cNvSpPr/>
          <p:nvPr/>
        </p:nvSpPr>
        <p:spPr>
          <a:xfrm>
            <a:off x="3044651" y="1210047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AA55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Чистая архитектура</a:t>
            </a:r>
            <a:endParaRPr lang="en-US" sz="1200" dirty="0">
              <a:solidFill>
                <a:srgbClr val="AA5500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3044651" y="1474738"/>
            <a:ext cx="2043261" cy="572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Трёхуровневая MVC с изоляцией слоёв и соблюдением принципов SOLID.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96119" y="2290986"/>
            <a:ext cx="4722763" cy="717575"/>
          </a:xfrm>
          <a:prstGeom prst="roundRect">
            <a:avLst>
              <a:gd name="adj" fmla="val 7390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/>
          <p:nvPr/>
        </p:nvSpPr>
        <p:spPr>
          <a:xfrm>
            <a:off x="627087" y="2421954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AA55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Современный стек</a:t>
            </a:r>
            <a:endParaRPr lang="en-US" sz="1200" dirty="0">
              <a:solidFill>
                <a:srgbClr val="AA5500"/>
              </a:solidFill>
            </a:endParaRPr>
          </a:p>
        </p:txBody>
      </p:sp>
      <p:sp>
        <p:nvSpPr>
          <p:cNvPr id="12" name="Text 9"/>
          <p:cNvSpPr/>
          <p:nvPr/>
        </p:nvSpPr>
        <p:spPr>
          <a:xfrm>
            <a:off x="627087" y="2686645"/>
            <a:ext cx="4460825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Java 21, Gradle, JSON-сериализация, Git-контроль версий.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96119" y="3166616"/>
            <a:ext cx="4722763" cy="15776"/>
          </a:xfrm>
          <a:prstGeom prst="roundRect">
            <a:avLst>
              <a:gd name="adj" fmla="val 336143"/>
            </a:avLst>
          </a:prstGeom>
          <a:solidFill>
            <a:srgbClr val="E5E0DF">
              <a:alpha val="5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Text 11"/>
          <p:cNvSpPr/>
          <p:nvPr/>
        </p:nvSpPr>
        <p:spPr>
          <a:xfrm>
            <a:off x="496119" y="3452887"/>
            <a:ext cx="20354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AA55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Практический опыт</a:t>
            </a:r>
            <a:endParaRPr lang="en-US" sz="1200" dirty="0">
              <a:solidFill>
                <a:srgbClr val="AA5500"/>
              </a:solidFill>
            </a:endParaRPr>
          </a:p>
        </p:txBody>
      </p:sp>
      <p:sp>
        <p:nvSpPr>
          <p:cNvPr id="15" name="Text 12"/>
          <p:cNvSpPr/>
          <p:nvPr/>
        </p:nvSpPr>
        <p:spPr>
          <a:xfrm>
            <a:off x="496119" y="3762598"/>
            <a:ext cx="2207344" cy="763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Проектирование сложных программных систем с нуля. Реализация алгоритмов генерации, обзора и пошагового боя.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2925366" y="3340447"/>
            <a:ext cx="2389212" cy="1287140"/>
          </a:xfrm>
          <a:prstGeom prst="roundRect">
            <a:avLst>
              <a:gd name="adj" fmla="val 7063"/>
            </a:avLst>
          </a:prstGeom>
          <a:solidFill>
            <a:srgbClr val="F2F2F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Text 14"/>
          <p:cNvSpPr/>
          <p:nvPr/>
        </p:nvSpPr>
        <p:spPr>
          <a:xfrm>
            <a:off x="3051572" y="3452887"/>
            <a:ext cx="20354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AA55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GitHub Repository</a:t>
            </a:r>
            <a:endParaRPr lang="en-US" sz="1200" dirty="0">
              <a:solidFill>
                <a:srgbClr val="AA5500"/>
              </a:solidFill>
            </a:endParaRPr>
          </a:p>
        </p:txBody>
      </p:sp>
      <p:sp>
        <p:nvSpPr>
          <p:cNvPr id="18" name="Text 15"/>
          <p:cNvSpPr/>
          <p:nvPr/>
        </p:nvSpPr>
        <p:spPr>
          <a:xfrm>
            <a:off x="3051572" y="3762598"/>
            <a:ext cx="2136800" cy="572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>
              <a:lnSpc>
                <a:spcPct val="126000"/>
              </a:lnSpc>
            </a:pPr>
            <a:r>
              <a:rPr lang="en-US" sz="95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Исходный код проекта доступен в </a:t>
            </a:r>
            <a:r>
              <a:rPr lang="en-US" sz="950" dirty="0" err="1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репозитории</a:t>
            </a:r>
            <a:r>
              <a:rPr lang="en-US" sz="95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:</a:t>
            </a:r>
            <a:br>
              <a:rPr lang="en-US" sz="95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</a:br>
            <a:r>
              <a:rPr lang="en-US" sz="95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  <a:hlinkClick r:id="rId3"/>
              </a:rPr>
              <a:t>https://github.com/nspace0/Rogue-1980-Remake</a:t>
            </a:r>
            <a:endParaRPr lang="en-US" sz="950" dirty="0"/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11228B63-1C2E-C85B-FBFF-20193F786E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8377" y="0"/>
            <a:ext cx="3290019" cy="4636810"/>
          </a:xfrm>
          <a:prstGeom prst="rect">
            <a:avLst/>
          </a:prstGeom>
        </p:spPr>
      </p:pic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EF42E2C3-BD8B-712F-AA28-31E594F305DA}"/>
              </a:ext>
            </a:extLst>
          </p:cNvPr>
          <p:cNvSpPr/>
          <p:nvPr/>
        </p:nvSpPr>
        <p:spPr>
          <a:xfrm>
            <a:off x="7931150" y="4870450"/>
            <a:ext cx="1174750" cy="2159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697</Words>
  <Application>Microsoft Office PowerPoint</Application>
  <PresentationFormat>Экран (16:9)</PresentationFormat>
  <Paragraphs>107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Poppins Light</vt:lpstr>
      <vt:lpstr>Arial</vt:lpstr>
      <vt:lpstr>Roboto Light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IBRG</dc:creator>
  <cp:lastModifiedBy>Ибрагим Булгучев</cp:lastModifiedBy>
  <cp:revision>5</cp:revision>
  <dcterms:created xsi:type="dcterms:W3CDTF">2026-06-20T18:16:38Z</dcterms:created>
  <dcterms:modified xsi:type="dcterms:W3CDTF">2026-06-20T20:10:41Z</dcterms:modified>
</cp:coreProperties>
</file>